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>
        <p:scale>
          <a:sx n="77" d="100"/>
          <a:sy n="77" d="100"/>
        </p:scale>
        <p:origin x="912" y="8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DC57-3AC8-449F-F08D-67B5961A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208AC-5048-A601-F16C-E21739890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F236B-4973-EC95-83B0-F5564ADE3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579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50BF-2DD6-0B1B-4D8E-DD9FFB41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2BB70-E515-8D29-F7BB-1C26C7409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7D39B-68C0-552B-CA07-9988EE18B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79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020D1-7F4F-E154-DA87-B6AE6B3A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EE3C8-DFC4-E39E-39AD-B5561BE50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578BA-2E74-B780-1D53-07733042F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387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83984-7720-4EE7-D650-5CF665F36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BDFE6-FB2F-BDBE-21CA-7E5503B73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304B5-9397-87D4-2389-C25C6AEB6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189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0BBD-5D15-9B2F-DEF6-50485F3E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5F0F3-82C8-FE42-94C5-A049EF908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A9CAC-83E3-07F1-3D6C-7CAA7C83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656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7C8ED-494D-C2D0-43C2-4AD32644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85D11-E22A-CFBA-8941-21E53066A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709EE-F5D5-2025-3559-11CD07DFD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5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9E05-78BF-098A-2FB0-90E1A0A2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6E15E-31AC-568F-7B96-F136381B4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8A559-3C25-79F2-6EAA-306E0F5D6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27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E-Commerce Orders Analysis: Data Cleaning &amp; Exploratory Data analysis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E2EFC-25B6-4112-EBB2-53F80908235C}"/>
              </a:ext>
            </a:extLst>
          </p:cNvPr>
          <p:cNvSpPr txBox="1"/>
          <p:nvPr/>
        </p:nvSpPr>
        <p:spPr>
          <a:xfrm rot="10800000" flipV="1">
            <a:off x="3647767" y="3623637"/>
            <a:ext cx="5358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Analytics Internship Project | Decode Labs </a:t>
            </a:r>
          </a:p>
          <a:p>
            <a:pPr algn="ctr"/>
            <a:r>
              <a:rPr lang="en-US" dirty="0"/>
              <a:t>Iffat Jabeen | October 2026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Dataset and Goals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Charts and Insights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Data Set and Goal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FF0DC-0B9C-2EE5-FE5C-03BC7DED87E3}"/>
              </a:ext>
            </a:extLst>
          </p:cNvPr>
          <p:cNvSpPr txBox="1"/>
          <p:nvPr/>
        </p:nvSpPr>
        <p:spPr>
          <a:xfrm>
            <a:off x="6174658" y="3429000"/>
            <a:ext cx="4581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E-commerce orders dataset, cleaned in Excel (Power Query)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find which products, channels and order sizes drive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Tools: Excel, Python (pandas, matplotlib)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EAE2-B33A-EE30-7908-67A555667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391" y="2176669"/>
            <a:ext cx="10183636" cy="1928191"/>
          </a:xfrm>
        </p:spPr>
        <p:txBody>
          <a:bodyPr/>
          <a:lstStyle/>
          <a:p>
            <a:r>
              <a:rPr lang="en-US" dirty="0"/>
              <a:t>Data Cleaning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C3DBB-9F24-59A5-F0E8-F15ED04D2BAA}"/>
              </a:ext>
            </a:extLst>
          </p:cNvPr>
          <p:cNvSpPr txBox="1"/>
          <p:nvPr/>
        </p:nvSpPr>
        <p:spPr>
          <a:xfrm>
            <a:off x="606288" y="3888658"/>
            <a:ext cx="84197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Problems found</a:t>
            </a:r>
            <a:r>
              <a:rPr lang="en-US" dirty="0"/>
              <a:t>: NULL values, empty rows, duplicate </a:t>
            </a:r>
            <a:r>
              <a:rPr lang="en-US" dirty="0" err="1"/>
              <a:t>OrderIDs</a:t>
            </a:r>
            <a:r>
              <a:rPr lang="en-US" dirty="0"/>
              <a:t>, inconsistent text in </a:t>
            </a:r>
            <a:r>
              <a:rPr lang="en-US" dirty="0" err="1"/>
              <a:t>PaymentMethod</a:t>
            </a:r>
            <a:r>
              <a:rPr lang="en-US" dirty="0"/>
              <a:t> and </a:t>
            </a:r>
            <a:r>
              <a:rPr lang="en-US" dirty="0" err="1"/>
              <a:t>OrderStatus</a:t>
            </a:r>
            <a:r>
              <a:rPr lang="en-US" dirty="0"/>
              <a:t>, Date Column showing ########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Fixes (Power Query): </a:t>
            </a:r>
            <a:r>
              <a:rPr lang="en-US" dirty="0"/>
              <a:t>removed NULLs and duplicates, standardized text, fixed date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New column: </a:t>
            </a:r>
            <a:r>
              <a:rPr lang="en-US" dirty="0" err="1"/>
              <a:t>TotalSales</a:t>
            </a:r>
            <a:r>
              <a:rPr lang="en-US" dirty="0"/>
              <a:t>= Quantity*</a:t>
            </a:r>
            <a:r>
              <a:rPr lang="en-US" dirty="0" err="1"/>
              <a:t>UnitPrice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Result: </a:t>
            </a:r>
            <a:r>
              <a:rPr lang="en-US" dirty="0"/>
              <a:t>clean dataset ready for analysis</a:t>
            </a:r>
          </a:p>
        </p:txBody>
      </p:sp>
    </p:spTree>
    <p:extLst>
      <p:ext uri="{BB962C8B-B14F-4D97-AF65-F5344CB8AC3E}">
        <p14:creationId xmlns:p14="http://schemas.microsoft.com/office/powerpoint/2010/main" val="43122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FE17-7225-AD0B-C292-993F2019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C32D-B5C9-07FF-C87A-6494804E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4"/>
            <a:ext cx="5723586" cy="1343646"/>
          </a:xfrm>
        </p:spPr>
        <p:txBody>
          <a:bodyPr/>
          <a:lstStyle/>
          <a:p>
            <a:r>
              <a:rPr lang="en-US" dirty="0"/>
              <a:t>Revenue by Referral Source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8CEF36-AE17-5B44-1F01-F2F6B6F1191E}"/>
              </a:ext>
            </a:extLst>
          </p:cNvPr>
          <p:cNvSpPr txBox="1"/>
          <p:nvPr/>
        </p:nvSpPr>
        <p:spPr>
          <a:xfrm>
            <a:off x="6174658" y="3429000"/>
            <a:ext cx="4581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Instagram drives the most revenue:108,247 (22% of the total)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 is second at 100,148 then Google(95,567) and Facebook(93,190)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Referral is lowest at 91,609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Instagram brings about 16,600 more than Referral, so it deserves the most marketing focus.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99256-76AF-D4AC-BF37-774269DA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93" y="1977888"/>
            <a:ext cx="5832281" cy="32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7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CFE81-41F1-AAF5-AB83-686D088E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9FA5-76D9-295E-3A17-51372AE7F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4"/>
            <a:ext cx="5723586" cy="1343646"/>
          </a:xfrm>
        </p:spPr>
        <p:txBody>
          <a:bodyPr/>
          <a:lstStyle/>
          <a:p>
            <a:r>
              <a:rPr lang="en-US" dirty="0"/>
              <a:t>Revenue by product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F1358-74EE-A3BA-C11E-CF4012C9E757}"/>
              </a:ext>
            </a:extLst>
          </p:cNvPr>
          <p:cNvSpPr txBox="1"/>
          <p:nvPr/>
        </p:nvSpPr>
        <p:spPr>
          <a:xfrm>
            <a:off x="6174658" y="3429000"/>
            <a:ext cx="45818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Printer leads product revenue at 82,452, just ahead of Laptop(80,952)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Chair is third at 71,816, followed by Monitor(66,924) and Tablet (66,623)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 (62,342) and Desk (57,651) bring in the least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gap between the top product and the lowest is about 24,800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122AB-EB3E-6E8F-295A-FAB1AF4A1F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97" y="1977888"/>
            <a:ext cx="5302073" cy="32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83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58893-CE74-5FD7-50EA-469012D6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654C-D91A-9533-689F-6A47B2B8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4"/>
            <a:ext cx="4018029" cy="1343646"/>
          </a:xfrm>
        </p:spPr>
        <p:txBody>
          <a:bodyPr/>
          <a:lstStyle/>
          <a:p>
            <a:r>
              <a:rPr lang="en-US" dirty="0"/>
              <a:t>Sales trend over time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90E45-FA1B-3013-8D41-38BE5BA4940E}"/>
              </a:ext>
            </a:extLst>
          </p:cNvPr>
          <p:cNvSpPr txBox="1"/>
          <p:nvPr/>
        </p:nvSpPr>
        <p:spPr>
          <a:xfrm>
            <a:off x="6174658" y="3429000"/>
            <a:ext cx="45818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peaked in October 2023 at 36,899, the highest month by a wide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Monthly sales swing sharply, mostly between about 5,000 and 20,000, which points to a seasonal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later month came close to the October 2023 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 covers January 2023 to md-2025( check the exact end date against your chart)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8BBC2-D6CB-FEB7-2A65-4DBC1ED68B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97" y="1993110"/>
            <a:ext cx="5302073" cy="320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0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0B900-DA20-D509-2EDA-5C2FD5D0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BE0B4-6A9C-A618-A5F7-41BA8610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4"/>
            <a:ext cx="4018029" cy="1343646"/>
          </a:xfrm>
        </p:spPr>
        <p:txBody>
          <a:bodyPr/>
          <a:lstStyle/>
          <a:p>
            <a:r>
              <a:rPr lang="en-US" dirty="0"/>
              <a:t>Quantity VS Total Sales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F1032-FE59-0E4B-186C-C05E51AC0CE9}"/>
              </a:ext>
            </a:extLst>
          </p:cNvPr>
          <p:cNvSpPr txBox="1"/>
          <p:nvPr/>
        </p:nvSpPr>
        <p:spPr>
          <a:xfrm>
            <a:off x="6174658" y="3429000"/>
            <a:ext cx="45818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quantity drives higher total sales, a positive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Orders with a quantity of 5 reach the highest sales, about 3,300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sale rises with each quantity step: about 700 at quantity 1,1,300 at 2,1,900 at 3 and 2,400 </a:t>
            </a:r>
            <a:r>
              <a:rPr lang="en-US"/>
              <a:t>at 4.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value depends on quantity, so bundle offers could lift revenue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555E47-A0A2-D97B-0DB7-3F37B3CF63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698" y="1993110"/>
            <a:ext cx="4256471" cy="320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06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21BA-CAA2-C304-34DE-9A45742B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085C-1477-65F1-2728-08CD223C3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948070"/>
            <a:ext cx="5723586" cy="1958008"/>
          </a:xfrm>
        </p:spPr>
        <p:txBody>
          <a:bodyPr/>
          <a:lstStyle/>
          <a:p>
            <a:r>
              <a:rPr lang="en-US" dirty="0"/>
              <a:t>Key Insights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F5E20-4999-53CE-59F4-B36A463105B3}"/>
              </a:ext>
            </a:extLst>
          </p:cNvPr>
          <p:cNvSpPr txBox="1"/>
          <p:nvPr/>
        </p:nvSpPr>
        <p:spPr>
          <a:xfrm>
            <a:off x="5702441" y="3429000"/>
            <a:ext cx="50540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Instagram is the top referral source at 108,247 (22% of revenue)</a:t>
            </a:r>
          </a:p>
          <a:p>
            <a:r>
              <a:rPr lang="en-US" dirty="0"/>
              <a:t>Printer and Laptop lead product revenue at 82,452 and 80,952</a:t>
            </a:r>
          </a:p>
          <a:p>
            <a:r>
              <a:rPr lang="en-US" dirty="0"/>
              <a:t>Sales peaked in October 2023 at 36,899, which points to a seasonal effect</a:t>
            </a:r>
          </a:p>
          <a:p>
            <a:r>
              <a:rPr lang="en-US" dirty="0"/>
              <a:t>Higher order quantity leads to higher total sales</a:t>
            </a:r>
          </a:p>
        </p:txBody>
      </p:sp>
    </p:spTree>
    <p:extLst>
      <p:ext uri="{BB962C8B-B14F-4D97-AF65-F5344CB8AC3E}">
        <p14:creationId xmlns:p14="http://schemas.microsoft.com/office/powerpoint/2010/main" val="2270649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C825-B3F4-850F-3BDF-1F51DFA0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4EC2-8551-A711-F2AB-B0ACE073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948070"/>
            <a:ext cx="5723586" cy="1958008"/>
          </a:xfrm>
        </p:spPr>
        <p:txBody>
          <a:bodyPr/>
          <a:lstStyle/>
          <a:p>
            <a:r>
              <a:rPr lang="en-US" dirty="0"/>
              <a:t>Recommendations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3E5ED-4B92-533B-46E3-840DFE256100}"/>
              </a:ext>
            </a:extLst>
          </p:cNvPr>
          <p:cNvSpPr txBox="1"/>
          <p:nvPr/>
        </p:nvSpPr>
        <p:spPr>
          <a:xfrm>
            <a:off x="5702441" y="3429000"/>
            <a:ext cx="50540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Put more marketing budget into Instagram, and test ways to lift Referral</a:t>
            </a:r>
          </a:p>
          <a:p>
            <a:r>
              <a:rPr lang="en-US"/>
              <a:t>Keep Printers and Laptops well stocked, and promote Desk and Phone</a:t>
            </a:r>
          </a:p>
          <a:p>
            <a:r>
              <a:rPr lang="en-US"/>
              <a:t>Plan campaigns and stock ahead of peak months</a:t>
            </a:r>
          </a:p>
          <a:p>
            <a:r>
              <a:rPr lang="en-US"/>
              <a:t>Offer bundles or bulk discounts to raise quantity per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25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F785D-C65F-7178-4C35-E1619EE3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8C2D-9E36-A329-2904-7495CB33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948070"/>
            <a:ext cx="5723586" cy="1958008"/>
          </a:xfrm>
        </p:spPr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168D6-6F2F-9D82-175A-8F76645B75AA}"/>
              </a:ext>
            </a:extLst>
          </p:cNvPr>
          <p:cNvSpPr txBox="1"/>
          <p:nvPr/>
        </p:nvSpPr>
        <p:spPr>
          <a:xfrm>
            <a:off x="5702441" y="3429000"/>
            <a:ext cx="50540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Cleaning the data made reliable analysis possible</a:t>
            </a:r>
          </a:p>
          <a:p>
            <a:r>
              <a:rPr lang="en-US" dirty="0"/>
              <a:t>Channel, product, season and quantity each shape revenue</a:t>
            </a:r>
          </a:p>
          <a:p>
            <a:r>
              <a:rPr lang="en-US" dirty="0"/>
              <a:t>Next step: SQL analysis of the same cleaned dataset</a:t>
            </a:r>
          </a:p>
        </p:txBody>
      </p:sp>
    </p:spTree>
    <p:extLst>
      <p:ext uri="{BB962C8B-B14F-4D97-AF65-F5344CB8AC3E}">
        <p14:creationId xmlns:p14="http://schemas.microsoft.com/office/powerpoint/2010/main" val="17700354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{9F832D5C-6367-4B34-B0ED-911C88FF51EF}TF8a9b5915-b8c7-461e-8cdd-693d48b5e32371f7b7e2_win32-4bf0b9a2ea37</Template>
  <TotalTime>114</TotalTime>
  <Words>497</Words>
  <Application>Microsoft Office PowerPoint</Application>
  <PresentationFormat>Widescreen</PresentationFormat>
  <Paragraphs>53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E-Commerce Orders Analysis: Data Cleaning &amp; Exploratory Data analysis  </vt:lpstr>
      <vt:lpstr>agenda</vt:lpstr>
      <vt:lpstr>Data Set and Goal </vt:lpstr>
      <vt:lpstr>Data Cleaning </vt:lpstr>
      <vt:lpstr>Revenue by Referral Source </vt:lpstr>
      <vt:lpstr>Revenue by product </vt:lpstr>
      <vt:lpstr>Sales trend over time </vt:lpstr>
      <vt:lpstr>Quantity VS Total Sales </vt:lpstr>
      <vt:lpstr>Key Insights </vt:lpstr>
      <vt:lpstr>Recommendations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User</cp:lastModifiedBy>
  <cp:revision>1</cp:revision>
  <dcterms:created xsi:type="dcterms:W3CDTF">2026-10-06T17:25:25Z</dcterms:created>
  <dcterms:modified xsi:type="dcterms:W3CDTF">2026-10-06T19:19:29Z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